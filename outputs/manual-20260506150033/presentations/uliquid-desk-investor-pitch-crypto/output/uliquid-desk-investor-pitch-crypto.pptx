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e1e5efbbb45be" /><Relationship Type="http://schemas.openxmlformats.org/officeDocument/2006/relationships/extended-properties" Target="/docProps/app.xml" Id="Rd6a0a66462604595" /><Relationship Type="http://schemas.openxmlformats.org/officeDocument/2006/relationships/officeDocument" Target="/ppt/presentation.xml" Id="Rfb58fb541040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159cafefe4230"/>
  </p:sldMasterIdLst>
  <p:notesMasterIdLst>
    <p:notesMasterId xmlns:r="http://schemas.openxmlformats.org/officeDocument/2006/relationships" r:id="R9466348af6ff4969"/>
  </p:notesMasterIdLst>
  <p:sldIdLst>
    <p:sldId xmlns:r="http://schemas.openxmlformats.org/officeDocument/2006/relationships" id="256" r:id="R36b24428e5c94b4d"/>
    <p:sldId xmlns:r="http://schemas.openxmlformats.org/officeDocument/2006/relationships" id="257" r:id="Rd73fd7a4de2444c4"/>
    <p:sldId xmlns:r="http://schemas.openxmlformats.org/officeDocument/2006/relationships" id="258" r:id="Rf0e9bd4280de4f10"/>
    <p:sldId xmlns:r="http://schemas.openxmlformats.org/officeDocument/2006/relationships" id="259" r:id="R31ea5e3dc3b64c99"/>
    <p:sldId xmlns:r="http://schemas.openxmlformats.org/officeDocument/2006/relationships" id="260" r:id="R7ac0d5b140534cfb"/>
    <p:sldId xmlns:r="http://schemas.openxmlformats.org/officeDocument/2006/relationships" id="261" r:id="Re95ba126546840e3"/>
    <p:sldId xmlns:r="http://schemas.openxmlformats.org/officeDocument/2006/relationships" id="262" r:id="R958fcc4b8ef549b1"/>
    <p:sldId xmlns:r="http://schemas.openxmlformats.org/officeDocument/2006/relationships" id="263" r:id="R8af7c5b6253e4482"/>
    <p:sldId xmlns:r="http://schemas.openxmlformats.org/officeDocument/2006/relationships" id="264" r:id="Rccc54e515d2d4693"/>
    <p:sldId xmlns:r="http://schemas.openxmlformats.org/officeDocument/2006/relationships" id="265" r:id="Rf8c15e9aead84361"/>
    <p:sldId xmlns:r="http://schemas.openxmlformats.org/officeDocument/2006/relationships" id="266" r:id="Re81ebf9f4c5542bd"/>
    <p:sldId xmlns:r="http://schemas.openxmlformats.org/officeDocument/2006/relationships" id="267" r:id="R8a68beda5e3a467a"/>
    <p:sldId xmlns:r="http://schemas.openxmlformats.org/officeDocument/2006/relationships" id="268" r:id="R128c122a1cfd4c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159cafefe4230" /><Relationship Type="http://schemas.openxmlformats.org/officeDocument/2006/relationships/theme" Target="/ppt/theme/theme1.xml" Id="R9ce8294b0e534809" /><Relationship Type="http://schemas.openxmlformats.org/officeDocument/2006/relationships/notesMaster" Target="/ppt/notesMasters/notesMaster1.xml" Id="R9466348af6ff4969" /><Relationship Type="http://schemas.openxmlformats.org/officeDocument/2006/relationships/presProps" Target="/ppt/presProps.xml" Id="Rdbac6782a30e4605" /><Relationship Type="http://schemas.openxmlformats.org/officeDocument/2006/relationships/viewProps" Target="/ppt/viewProps.xml" Id="R2daf010e521b47f7" /><Relationship Type="http://schemas.openxmlformats.org/officeDocument/2006/relationships/tableStyles" Target="/ppt/tableStyles.xml" Id="Rff7f8f7b760d4bb2" /><Relationship Type="http://schemas.openxmlformats.org/officeDocument/2006/relationships/slide" Target="/ppt/slides/slide1.xml" Id="R36b24428e5c94b4d" /><Relationship Type="http://schemas.openxmlformats.org/officeDocument/2006/relationships/slide" Target="/ppt/slides/slide2.xml" Id="Rd73fd7a4de2444c4" /><Relationship Type="http://schemas.openxmlformats.org/officeDocument/2006/relationships/slide" Target="/ppt/slides/slide3.xml" Id="Rf0e9bd4280de4f10" /><Relationship Type="http://schemas.openxmlformats.org/officeDocument/2006/relationships/slide" Target="/ppt/slides/slide4.xml" Id="R31ea5e3dc3b64c99" /><Relationship Type="http://schemas.openxmlformats.org/officeDocument/2006/relationships/slide" Target="/ppt/slides/slide5.xml" Id="R7ac0d5b140534cfb" /><Relationship Type="http://schemas.openxmlformats.org/officeDocument/2006/relationships/slide" Target="/ppt/slides/slide6.xml" Id="Re95ba126546840e3" /><Relationship Type="http://schemas.openxmlformats.org/officeDocument/2006/relationships/slide" Target="/ppt/slides/slide7.xml" Id="R958fcc4b8ef549b1" /><Relationship Type="http://schemas.openxmlformats.org/officeDocument/2006/relationships/slide" Target="/ppt/slides/slide8.xml" Id="R8af7c5b6253e4482" /><Relationship Type="http://schemas.openxmlformats.org/officeDocument/2006/relationships/slide" Target="/ppt/slides/slide9.xml" Id="Rccc54e515d2d4693" /><Relationship Type="http://schemas.openxmlformats.org/officeDocument/2006/relationships/slide" Target="/ppt/slides/slide10.xml" Id="Rf8c15e9aead84361" /><Relationship Type="http://schemas.openxmlformats.org/officeDocument/2006/relationships/slide" Target="/ppt/slides/slide11.xml" Id="Re81ebf9f4c5542bd" /><Relationship Type="http://schemas.openxmlformats.org/officeDocument/2006/relationships/slide" Target="/ppt/slides/slide12.xml" Id="R8a68beda5e3a467a" /><Relationship Type="http://schemas.openxmlformats.org/officeDocument/2006/relationships/slide" Target="/ppt/slides/slide13.xml" Id="R128c122a1cfd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c5398e54cd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748b4117d409a" /><Relationship Type="http://schemas.openxmlformats.org/officeDocument/2006/relationships/notesMaster" Target="/ppt/notesMasters/notesMaster1.xml" Id="R0003571b63cf43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abea8d517c4931" /><Relationship Type="http://schemas.openxmlformats.org/officeDocument/2006/relationships/notesMaster" Target="/ppt/notesMasters/notesMaster1.xml" Id="R4851d5c11c2a4d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bcf440f51d41f5" /><Relationship Type="http://schemas.openxmlformats.org/officeDocument/2006/relationships/notesMaster" Target="/ppt/notesMasters/notesMaster1.xml" Id="R7ad60a84bbb64f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253e0e02104fb2" /><Relationship Type="http://schemas.openxmlformats.org/officeDocument/2006/relationships/notesMaster" Target="/ppt/notesMasters/notesMaster1.xml" Id="Rab0714381a284f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7013f1c8b45f6" /><Relationship Type="http://schemas.openxmlformats.org/officeDocument/2006/relationships/notesMaster" Target="/ppt/notesMasters/notesMaster1.xml" Id="R65fb299b1dda44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666fc2a604621" /><Relationship Type="http://schemas.openxmlformats.org/officeDocument/2006/relationships/notesMaster" Target="/ppt/notesMasters/notesMaster1.xml" Id="Rd3960e6ca11a48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2aebab9e204e09" /><Relationship Type="http://schemas.openxmlformats.org/officeDocument/2006/relationships/notesMaster" Target="/ppt/notesMasters/notesMaster1.xml" Id="R2ee572d944fd41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541eaa00b64a01" /><Relationship Type="http://schemas.openxmlformats.org/officeDocument/2006/relationships/notesMaster" Target="/ppt/notesMasters/notesMaster1.xml" Id="Rae2224b0e1b042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38caff77a24f16" /><Relationship Type="http://schemas.openxmlformats.org/officeDocument/2006/relationships/notesMaster" Target="/ppt/notesMasters/notesMaster1.xml" Id="Ra1356fb901fc48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3e943a853d4388" /><Relationship Type="http://schemas.openxmlformats.org/officeDocument/2006/relationships/notesMaster" Target="/ppt/notesMasters/notesMaster1.xml" Id="Rb7c31280264742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a255096b29445e" /><Relationship Type="http://schemas.openxmlformats.org/officeDocument/2006/relationships/notesMaster" Target="/ppt/notesMasters/notesMaster1.xml" Id="R2156a762e0e142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fdaf4153c04bac" /><Relationship Type="http://schemas.openxmlformats.org/officeDocument/2006/relationships/notesMaster" Target="/ppt/notesMasters/notesMaster1.xml" Id="Rba9010b632bc47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d8af8caf90493f" /><Relationship Type="http://schemas.openxmlformats.org/officeDocument/2006/relationships/notesMaster" Target="/ppt/notesMasters/notesMaster1.xml" Id="R097d5252811544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02951571544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26e6826ed3473d" /><Relationship Type="http://schemas.openxmlformats.org/officeDocument/2006/relationships/slideLayout" Target="/ppt/slideLayouts/slideLayout2.xml" Id="Ra0bf602fb13c4a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f602fb13c4a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0dce7031394191" /><Relationship Type="http://schemas.openxmlformats.org/officeDocument/2006/relationships/image" Target="/ppt/media/image.png" Id="R85ed4f118c0d4ca9" /><Relationship Type="http://schemas.openxmlformats.org/officeDocument/2006/relationships/notesSlide" Target="/ppt/notesSlides/notesSlide1.xml" Id="R24ffe8464669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df58b1242c47eb" /><Relationship Type="http://schemas.openxmlformats.org/officeDocument/2006/relationships/notesSlide" Target="/ppt/notesSlides/notesSlide2.xml" Id="Re6bc1ea77e3345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ac39245df14e0a" /><Relationship Type="http://schemas.openxmlformats.org/officeDocument/2006/relationships/notesSlide" Target="/ppt/notesSlides/notesSlide3.xml" Id="Raf09834caab7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7a4d71fd854061" /><Relationship Type="http://schemas.openxmlformats.org/officeDocument/2006/relationships/notesSlide" Target="/ppt/notesSlides/notesSlide4.xml" Id="R4d347c01750f42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cf98b08538494c" /><Relationship Type="http://schemas.openxmlformats.org/officeDocument/2006/relationships/notesSlide" Target="/ppt/notesSlides/notesSlide5.xml" Id="R76864ef3df0f45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7c0411a95c4968" /><Relationship Type="http://schemas.openxmlformats.org/officeDocument/2006/relationships/notesSlide" Target="/ppt/notesSlides/notesSlide6.xml" Id="R335923522c51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fb33ffffb47c4" /><Relationship Type="http://schemas.openxmlformats.org/officeDocument/2006/relationships/notesSlide" Target="/ppt/notesSlides/notesSlide7.xml" Id="Rbbeae4dd6f6941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70e87832f4578" /><Relationship Type="http://schemas.openxmlformats.org/officeDocument/2006/relationships/notesSlide" Target="/ppt/notesSlides/notesSlide8.xml" Id="R4a21ec827f5c48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ee855cd724416" /><Relationship Type="http://schemas.openxmlformats.org/officeDocument/2006/relationships/notesSlide" Target="/ppt/notesSlides/notesSlide9.xml" Id="Rf506e245f06d44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cf1dfbfee4309" /><Relationship Type="http://schemas.openxmlformats.org/officeDocument/2006/relationships/notesSlide" Target="/ppt/notesSlides/notesSlide10.xml" Id="R6e4056e86a2b41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3a463522d04c3d" /><Relationship Type="http://schemas.openxmlformats.org/officeDocument/2006/relationships/notesSlide" Target="/ppt/notesSlides/notesSlide11.xml" Id="R2531378fd97f4e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1619b499744658" /><Relationship Type="http://schemas.openxmlformats.org/officeDocument/2006/relationships/notesSlide" Target="/ppt/notesSlides/notesSlide12.xml" Id="R3d9526561f1544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44940f8144000" /><Relationship Type="http://schemas.openxmlformats.org/officeDocument/2006/relationships/notesSlide" Target="/ppt/notesSlides/notesSlide13.xml" Id="R07fa403e05c94c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7C01B-1CA3-4E3E-BA1B-9A897E4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A66E1-A85B-4FEE-88C0-1129B3DF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9CAB-0B02-4FCD-90E5-D951A747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9ABD8-726A-4D6B-A0BE-9EF8BB2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DC381-765A-4268-A77D-0BEFA47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C9B64-774B-4A06-A0E0-F511B54F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365DC-C0E3-43DD-82CA-1804DB0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04676-D253-49CC-BB8D-852EAC03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080E4-423B-4013-8E43-005C55FC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BD57B-C336-4042-AF74-49C909DA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C6C61-42E2-4A52-95AB-C34F5D78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836DC-331E-4DE1-A4D6-4A14E28D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5A5F8-5244-4488-8C5D-E0918A48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F4543-B270-46D3-B570-5DF3C1F5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5ADE4-B9C1-448C-8329-9219404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EBA54-D331-4F38-85EC-D057A748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5CC0A-7095-4BCE-B927-CCDD94BE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CCAA1-280D-46B8-B9AC-08571DD6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86028-A2EB-4CB3-BDE4-AD58C344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39A89-E4D4-4034-A266-0649E347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F7DBA-3139-4146-92A3-0E8A66D3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07C55-5E30-41B4-A6D7-FFBA610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63D7E-66BF-4459-99D2-2AE5FDE1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36D79-3375-4B1C-A742-E6955D6A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64306-1D53-43FD-A753-DE1C0004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7E2F4-90D2-4439-B52C-F506F65E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A7AF3-8FA7-4CD0-A323-9622BA6B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B1888-6A86-4FEE-AE0D-4CAC915A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8B226-7FB3-4FAD-8064-8F9ADBE5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87CC0-C947-490A-8F78-D3A3EE98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EC52F3-18A5-46CD-872C-0BC907C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E9335-B66D-4A07-A001-BDE8C533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12AA0-460E-42BB-968A-FF08EB5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BF2D2E-9055-4D65-9E0D-C7785E20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C4E48-3D5F-4140-860D-7D266B9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CFB08D-4A62-4733-8DA8-BB32D851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CE43A-7915-413F-9623-EEFB31A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381D18-FCA1-495D-8C91-1A9B6815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d4f118c0d4ca9"/>
          <a:stretch xmlns:a="http://schemas.openxmlformats.org/drawingml/2006/main"/>
        </p:blipFill>
        <p:spPr>
          <a:xfrm xmlns:a="http://schemas.openxmlformats.org/drawingml/2006/main">
            <a:off x="8782050" y="685800"/>
            <a:ext cx="2152650" cy="21526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9D51E4-E86C-4698-A023-02C47BF8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CD9A98-745C-416F-8A30-82205B55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A7ED66-A045-4213-8AB2-35583FF8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INVESTOR PITCH | HYPERLIQUID AUTOMATION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6C0B04-C7E5-40D5-AF65-A70434D5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Vault-native automation for Hyperliquid grid strategies.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C4AEFA-2BB7-4D88-B072-345D2878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6686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uLiquid Desk turns bots into governed capital accounts: strategy, funding, execution, safety, accounting, and monetization in one crypto-native operating layer.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03FA7F-E946-4E80-B26D-EFD037C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0DEE9C-1C52-41AF-AA06-56C3FB0C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BOTVAULTV4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378B2D-3A7D-4C35-895A-D02FD2B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3380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CA4816-8D94-4BBF-935F-9FAE3CD7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814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GRID BOTS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E13DA4-A220-44E8-A5F3-05CD2E0A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60A5FA">
                <a:alpha val="53333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738A3D-2A0F-4675-8384-2B398E8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A5F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0A5FA"/>
                </a:solidFill>
                <a:latin typeface="Aptos Mono"/>
                <a:ea typeface="Aptos Mono"/>
                <a:cs typeface="Aptos Mono"/>
              </a:rPr>
              <a:t>HYPERLIQUID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3FBE3D-1735-4912-AEF3-47DA1D7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D946EF">
                <a:alpha val="53333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33A716-1172-47EA-99E2-959DCBB6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81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PROFIT SHARE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1EA3D5-E7BB-488D-87B0-7B8CC5DC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783F32-7D36-4884-904C-985313D7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$4.94B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25837A-CE13-4876-BF66-C217F2CD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Hyperliquid TVL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0F0399-5358-43AF-991D-6A07BC9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0657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50657F"/>
                </a:solidFill>
                <a:latin typeface="Aptos"/>
                <a:ea typeface="Aptos"/>
                <a:cs typeface="Aptos"/>
              </a:rPr>
              <a:t>DefiLlama, May 2026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395534-38AE-43E3-8352-0D290348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49911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52EB15-920B-4D8D-9F4F-BBF4ECF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495300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$57.3M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205AC8-A240-4585-8E21-4A6DBB6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529590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30D perps fees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F65A03-44D1-44C2-9DEF-C78892B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546735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0657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50657F"/>
                </a:solidFill>
                <a:latin typeface="Aptos"/>
                <a:ea typeface="Aptos"/>
                <a:cs typeface="Aptos"/>
              </a:rPr>
              <a:t>DefiLlama, May 2026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D5212B-DA57-44BA-967C-0BFAB2A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911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0238CB-5DE5-4E9A-A9B3-2BE859F2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95300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V4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9D7C90-B06A-47C9-A2C1-98C1E66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9590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BotVault layer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7DFF5C-CB18-4E09-87B8-7940DE3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46735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0657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50657F"/>
                </a:solidFill>
                <a:latin typeface="Aptos"/>
                <a:ea typeface="Aptos"/>
                <a:cs typeface="Aptos"/>
              </a:rPr>
              <a:t>one grid bot, one vault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FD0738-C723-4777-957E-F588F89B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49911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1B8B29-0C37-471F-8018-BC079819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4953000"/>
            <a:ext cx="20716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5%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23B169-C23A-4F7A-BEDB-92C6D3DC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529590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platform share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C0A4AA-A88F-4F5A-AE7B-BD26B230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5467350"/>
            <a:ext cx="20716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0657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50657F"/>
                </a:solidFill>
                <a:latin typeface="Aptos"/>
                <a:ea typeface="Aptos"/>
                <a:cs typeface="Aptos"/>
              </a:rPr>
              <a:t>default fee policy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6C9563-015A-4B4E-BD0F-427AD65E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A48315-EF49-4F3A-858A-B112731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73DBE8-AC68-4646-891C-4775587D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Thesis: the missing Hyperliquid layer is not another bot, it is governed vault automation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02FE2D9-C733-481A-848E-97C2DC9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99193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490F7-3169-4903-BDAB-850A5386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B6324-1CF6-46C7-8C94-51C1B3AA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A2C52-03B9-4258-82E7-D7C6D27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D5BD0-F44B-4C9B-BF36-73EB90B9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66300-5C43-4556-8B5A-3268443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34A4A-3C38-4362-B5A8-46BD13C0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661A1-CFF8-4F60-B0CD-D119EA4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772E8-E9E2-4C38-AEEB-2891D7B9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EFE68-5D2C-4389-9D27-1CB6F7E2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1599E-D08F-4440-BB3F-F2B80C0B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0583C-4355-4EA5-ADB5-C57A64C6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62426-0EA0-46EB-9A7F-BC69014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046D0-181D-4204-A992-8EE3898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A7192-58A6-424F-BEA9-4B444B7F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3D1CE-148D-4688-881C-965D95C3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63985-4522-4C61-BFF1-FB8C5C8D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53FB1-9DD5-4502-A7C5-AAD85E53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97F50-A2AD-404C-B760-043FAC7C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BED65-8D7C-45A5-9B9C-69E59097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04DD0-9286-4A6C-AAC5-BB3BEB97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2ACBF-E105-4A16-8C0A-C2C50DBD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08DB4-78CB-46D7-87E1-29D73BD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D446C-AEEC-4521-B8F9-87CD34E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02179-00A0-4D1B-9867-D3587F5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37ADA-2A12-4383-9401-D0A779AB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3B013-39ED-490E-897D-E57B176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D6FD4-A22F-44D4-9DBD-31C20D36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2742D-7AD2-4A4F-B989-9D4894C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D2787-BE08-4B22-8979-2BF64684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CF4F8-A453-4E75-B833-FF15D21B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5E91E-2B6A-428D-9CDB-D31D05A8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4552E-0B8C-418E-AB2A-DF14DF9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BE53C0-68B8-40BB-9DEB-EB8C3B2B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03E12E-A99D-4E00-B13B-3EAEB203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8ED29F-DC41-4C78-86D7-5625DAD2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0BDE9-E3DA-4E51-A65C-49240FB2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206A83-6DA8-461D-967C-80E0663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DF413F-0598-4154-AA80-C4EC1C4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370829-50B8-4D6C-A0B3-A5652EEC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400BA8-3318-411B-AE3C-FE5E597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B0D473-6E4A-46D4-BAF9-EBA49595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7BDEBB-A160-43C5-83E3-27C8BF4E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762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Crypto bots are scripts. Investors need capital infrastructure.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FAA3C-F943-4449-860C-B37524F8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771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Grid strategies can work, but the surrounding workflow is usually fragmented across wallets, CEX-style bots, spreadsheets, manual funding, and weak recovery paths.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7DAEE3-9917-46E9-A2DD-155E16DC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F66B71-4F93-40E9-8B7F-1777532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B7185">
                <a:alpha val="3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F8CA52-2EA8-47DB-8395-5774903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5D527E-5A02-41A4-A8FB-0B8D59AC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Execution risk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3E506A-9283-424D-A5B9-CBE8705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Bots place orders, but rarely own the whole lifecycle: funding, agent permissions, exchange state, fills, settlement, and stuck-action recovery.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93883E-9ED4-4599-9C6E-9BF58D7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6B6C16-2F32-41B3-85C1-8E16CD4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3333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93BB89-68AF-4E9A-909E-B809A226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8D6D57-F1E5-473F-A8DD-86C02F4B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Capital ambiguity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8598A6-94BB-4D7A-9328-7BBF2C66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Users cannot easily see which capital belongs to which bot, what is withdrawable, and what profit share has accrued.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84F7FF-4631-4F49-B021-2F5CAE4A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F7DCA0-9FEE-4CC8-866A-AD70D6B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276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33333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F84D88-2BAE-4306-B9C7-A1B49059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1FAE45-C695-4CCB-A657-B0745CEE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Trust gap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2BEC9A-CC58-4551-9C73-D0CAF1ED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933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Investors need release gates, audit trails, liquidation-distance controls, and operator tooling before automation can scale.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9D60E6-296C-487E-87DC-5A3426D7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998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A1F9B2-EC4C-4A2C-871D-EBAC4F2E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998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E"/>
          </a:solidFill>
          <a:ln xmlns:a="http://schemas.openxmlformats.org/drawingml/2006/main" w="9525">
            <a:solidFill>
              <a:srgbClr val="38BDF8">
                <a:alpha val="2902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173CFA-2C2F-48BE-944C-BF1E94F4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998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EBA919-08B8-4AF6-AFA5-6CA98916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5D1D86-80C7-4772-967F-44452B2B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6830BB-18B2-4171-AA39-B580C59C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172989-1A0E-4AEE-9641-24E59B33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963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$ grid-bot start BTC-PERP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B1DD92-1888-41B9-BB0B-9C10616E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05450"/>
            <a:ext cx="963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! capital source unknown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2D01AD-32FB-4285-89A0-304D860D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15000"/>
            <a:ext cx="963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! liq distance below policy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63CCC4-7DFB-4F3A-A85D-00C060D2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924550"/>
            <a:ext cx="963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- no vault accounting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F960FB-EAA5-4061-AA42-3FA5ADE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34100"/>
            <a:ext cx="963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+ uLiquid requirement: isolated account + recovery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CFC415-CB2A-48A2-86A5-C1385B7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1D355B-66E1-4FA5-88E6-FB92DE42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190887-08F7-439A-AB6B-91427BE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Core pain: automation without capital boundaries is hard to sell, monitor, or insure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8B200D-3DA1-4102-9B18-3C763DE2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39103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B2D66-1B53-4808-AA5A-12ED44B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3DB9-FD6D-4832-92DF-5E00446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C919B-FDB3-4A0A-920D-D82F2467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0447B-A4B7-4490-A7BD-F0974DF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AD1DB-8A18-4C40-A99B-042E58C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21DC3-CCFA-435C-BA32-AD3146AA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98478-69F0-48B5-B365-70DBC445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11C03-88BF-460F-ABF6-AA36F4E3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62E5B-071A-48AF-80CB-A6797EBE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59303-2A3C-4D69-9498-D105AF84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496CC-CB2D-450B-B6DD-EE4F218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F2E67-CC7F-4383-B00C-B03C925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19A3B-D072-4CAC-9B14-516F65B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87F81-9A8E-495B-BA9B-0710E7A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B2E5A-91F0-4959-8348-C2D41629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BD279-5A83-4C89-9776-7DF5460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7FA57-BC9B-4952-9A1D-D2672887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D8939-B2C8-4885-AE1D-FBE34E8A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FCE7F-B2E5-45C5-8602-1A0BFEC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AFBAF-1909-4F4B-B433-83519136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C702E-EA47-4CF2-BD16-57A563FB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2B740-1A93-4D78-87D6-454515F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B1151-3023-4820-9A39-A756D75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6AFFA-57EA-486D-8957-FFF5206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2738-1A05-4650-8818-97566A6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77DC6-AC70-444D-AB79-9CE406E6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8F568-ED85-4862-970A-09093D3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18F06-3869-4DEC-B831-BEF70247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6B12D-53E5-4332-A4B5-7E87EE5B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C277E5-A628-4A22-866C-9013DD0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F64916-1FA0-4BAF-9F86-D73C8F2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E9DF35-CD9B-4927-892D-095B29E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92FB09-755E-4268-8F20-4F8BF62A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23589E-72C0-4300-B598-B55A69D4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A58AD-FFC7-4195-95A6-F633725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222C6-A4EC-42CA-9F5B-A908B83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EC5D5-A674-4DBF-A221-88506E6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3A235-8820-443E-9A7A-5B89698B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94A5DE-6647-47C9-8803-59E5EA1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EAA0BB-3A6C-4CAE-9104-45280AD6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AFB7AA-1A59-48EE-923B-0342E99C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MARKET TIMING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8BCCEF-1363-417C-A131-FCCEEFB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Hyperliquid has the primitives. The desk layer is still early.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BA5E9D-9A8E-414B-AA8E-5491CB27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Native vault primitives, active perps markets, and a high-signal trader community create a wedge for automation that feels on-chain, not bolted 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359195-9F7F-4E5D-A1B6-C29F3C2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FFF314-F751-4831-B71D-0AB963B6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E0F350-4664-4A10-BBE9-140F0F20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12851C-F9D0-4DB4-BF27-20351E32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PROTOCOL TVL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E8894F-297C-463D-9E5E-F31D175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$4.94B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A74DF3-96C3-4166-961B-2DE87419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D8EA9"/>
                </a:solidFill>
                <a:latin typeface="Aptos"/>
                <a:ea typeface="Aptos"/>
                <a:cs typeface="Aptos"/>
              </a:rPr>
              <a:t>Approx. DefiLlama protocol TVL on 2026-05-06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518DC2-22B9-4BEE-993B-AD9D1123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EBE6E2-3AD0-4BCA-8165-267D0E7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AF97DA-44B2-4DFF-8DC7-F8A559E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E76330-3AED-4D07-BE0D-C1F4A107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30D FEES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8F03D3-0B28-484E-A96F-99C7926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527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$57.3M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3A3640-744D-4C9D-A28A-E4EE1134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D8EA9"/>
                </a:solidFill>
                <a:latin typeface="Aptos"/>
                <a:ea typeface="Aptos"/>
                <a:cs typeface="Aptos"/>
              </a:rPr>
              <a:t>Approx. Hyperliquid Perps fees, DefiLlama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98B769-217A-4EB7-ADF6-4241350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9555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AB314B-0D0D-473F-BBB6-59BD8BE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19350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DC3B9A-1A91-4C2D-9E77-C04219C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193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A6697C-7746-418F-903E-04D999D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24H FEES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E072ED-B184-4904-B434-BFCC4ACD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527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$2.3M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6E9CF7-5067-4428-A06B-768AA68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D8EA9"/>
                </a:solidFill>
                <a:latin typeface="Aptos"/>
                <a:ea typeface="Aptos"/>
                <a:cs typeface="Aptos"/>
              </a:rPr>
              <a:t>Approx. latest 24H fee run-rate from DefiLlama API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19F866-9015-4A92-A012-3F03E3C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254E7C-FFEA-4931-AE87-8FFE801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31373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403AC9-E02F-43AE-BD85-423D65B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WHAT HYPERLIQUID GIVES BUILDERS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92328B-B30D-4C20-A6D1-1D2D0DD1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7D40F5-5D93-403D-B307-EEE5E8B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Vault primitive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1CD1E4-D721-4EC2-8469-CF457C1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capital can be pooled and operated with clear rules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3E7C52-D887-46A5-A171-06E43027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B5720B-C613-479E-BF5F-A58F4113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Perps depth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A652C0-513C-4B76-A3E8-5C97AFC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grid strategies need active markets and fast fills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5DEFE7-F7B7-4BF5-A8A9-BBCE5B9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80EFED-290D-4C43-94BB-EBC6CC8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API surface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8F0067-0AB4-464D-A2AA-8994348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state, fills, positions, vault details, and execution controls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77B057-0DD1-4F6E-AC72-BCF75C04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60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4A8A77-8E74-46AE-82BE-0FDD16F9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60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60A5FA">
                <a:alpha val="21961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A27953-7974-4A4A-AFB6-BCAB5515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Investor read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074A10A-BABB-489C-B2C4-82BAD31D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67300"/>
            <a:ext cx="765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The opportunity is not a generic trading bot. It is the operating layer that makes Hyperliquid automation governable, repeatable, and monetizable.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2E31CC-E5B0-4454-B0D7-9B8D983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666AA1-3C77-4AB1-BCDA-9E1560E9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C62A3F-6AA1-4567-A39A-A066B794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Sources: Hyperliquid docs and DefiLlama API, retrieved May 6, 2026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9BF3C8-AC68-44A3-8AC8-D9792328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5361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D454E-6D5E-46BE-B561-8289A12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1E2F-58AA-434A-AB10-4C4F8A7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FAC62-4853-4D19-9B4B-2FF211F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7C24C-C0E7-4048-AE95-9A61BD4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47080-1931-48EC-9D38-3EF83781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3898C-FFA1-483B-B343-F5556BD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2C1DE-84FF-4197-AE5E-60A6CB2F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8D3D8-B185-4835-BC68-CE6FB0E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C51BB-7A53-424B-AAEF-1B6227BD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1CBF7-62D7-45F9-A9B2-5C70147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A1CAE-C34F-4BD3-A94A-6CCA496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EE422-5ACD-42C1-9617-D4EB1DBC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FF4EE-58DE-43AF-AE38-479FAE9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FFCA2-40CE-43E6-B819-CFE5590E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00C93-942B-4D45-9B5B-2BA160BC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2E54D-9FCF-4663-8BB5-DF76D01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6E974-20FE-4897-A71F-CA60DEBB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99494-D14C-4A1C-96CC-B0B588C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0EF7C-6F73-4932-82E7-CCCBCBA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F8EFF-DC93-4785-A214-B4A6E98B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9F9C6-DB78-4018-82E7-54560BCE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CE5B1-1133-4C8A-98F2-B8C0AA9C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67CDC-1084-46CF-B744-BD5CF61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42E84-A4E6-483F-811A-9F295678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5056C-84E4-47E9-B196-1994B3B9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A3AEB-B524-498F-A1CE-D0AB3F0F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228F7-4408-4917-B140-84CBEC3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FC953-C163-464E-B4BA-E208980E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F703A-C1B0-4E35-9E97-F9958DC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6B5AB-E5DB-434B-A12A-C8DBD3D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6D1F7-F485-4E82-B483-67F0689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9D8F8-2044-42BB-B6DC-9DE703E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89E7BF-9E87-47EC-B1D2-B2EA0C47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D20E8D-75D0-400E-BDF7-8400EF5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821D94-4CC3-45F3-B19E-D60D51D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D3EA18-C472-4641-B49A-D167F60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135516-8F33-4835-8A7F-8B53DA64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ACB098-DC25-45F9-9718-3E0BC21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F3893-D19B-46D2-967D-8D79CA4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BE4D8C-41F5-4A2A-8D9A-E1B5CDBD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A5BFAB-D976-40C3-BEED-43BA5EF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SOLUTION ARCHITECTURE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0454E5-B1D7-46E1-B6CA-3D8DB7EB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uLiquid turns strategy automation into a full execution desk.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45AA92-5677-49C2-BF68-B45498FD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The product unifies trading UX, bots, vaults, risk, funding, runner execution, billing, and admin controls in one coherent platform.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BAF627-0AB4-491A-981B-8702411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0F8E8E-E32B-4E74-8C75-EC4D6EEE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E069B6-8CA6-413C-AE3B-3E886F00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63E488-CE64-4438-BA8A-730009DC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B2BE81-08ED-4A12-87C8-8B46F4B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Trader UX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A8645D-1808-45EA-8A36-898EC1B3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Dashboard, grid bots, manual desk, wallet, funding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F6046B-C812-4961-98C0-102E67EB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956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6AF820-9E9B-4848-A50A-10815D7A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C607C4-A9A1-4622-9414-507B7D7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48CB25-552A-45C8-81FA-D1D26E4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50AA9D-A436-45BC-BC92-BFAC1E4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793D18-E546-43C8-92B6-7E55665F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384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C0AD7F-462B-4C1D-88DF-9D8AA151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Strategy layer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98C27D-9576-44DE-B702-7481A7A1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385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Templates, AI signals, risk defaults, go-live gates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8DBEEA-929C-4523-B9E4-908FA33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956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286445-2FAF-43D7-93C4-28FFB502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D879F4-805B-49E1-A991-93D530B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241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662F10-4145-4563-A655-3F765A26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7"/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7A26F4-B167-4A7B-BD00-920C48D0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10A3C3-6BA8-49D0-9725-DECD4A79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384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CBFA72-179D-4373-959C-26F81A1F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95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BotVaultV4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7954D3-132A-42EC-A718-DCAF4116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85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one vault per bot, locked fee policy, accounting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E1CE10-7F07-4101-A273-3F1439A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C74DF4-7E64-453E-AD85-B7B2F38B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2321F7-58CE-4363-9E9B-48D7BBA9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B914B7-86A9-442A-9E4D-9E2C64C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8CB8AA-34B9-4F6A-BE49-498E2BE1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8C1AA1-64B9-453B-B747-8CF00552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C7492E-39C2-4306-8804-C8942C59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3DD232-9DBD-451C-8BB7-0DD9EE05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runner jobs, Hyperliquid adapter, fill reconciliation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102C8C-E057-4BD7-A904-A9B8B0D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956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85C9BAD-E40A-4BFE-A0D9-F1C8930A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11BD8D-FEB5-4F33-80EA-955EF1A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161112-FB11-4A57-BDB6-C20AD63F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714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044747-E232-4416-92B1-B5D346A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0ED8D4-5DAE-4F9B-97E6-920BBBD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384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50657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2CCA36B-3C9A-47AF-8B00-A34776E6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95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861F9D-0721-479B-B7D7-CAD1B325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admin ops, alerts, audit, licensing, profit share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1914BC-20A1-4080-8EBA-9692020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91100"/>
            <a:ext cx="9258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79617BE-211B-4927-9A9D-B6C77B15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9258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E"/>
          </a:solidFill>
          <a:ln xmlns:a="http://schemas.openxmlformats.org/drawingml/2006/main" w="9525">
            <a:solidFill>
              <a:srgbClr val="38BDF8">
                <a:alpha val="2902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BF8B82A-6349-430F-8778-0454D6C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925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E6B500-D233-44FA-B8AB-4548694A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B65E76-75D4-4C1F-899B-CA4BF10F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CB30A20-8021-4E54-82D2-3279B56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156A93D-6A93-4E46-B543-D874D6F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+ create Grid Bot template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ADDBD4-84D9-45A4-BD7F-5B32C36F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2450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+ deploy BotVaultV4 account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D004AC5-8F68-4242-99A2-09412558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3405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+ fund vault, sync HyperCore balance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F42CB8E-649F-4D01-9489-40A65FE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4360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+ run ladder, reconcile fills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EE2DF4-49BB-489F-8094-F8BC5BF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153150"/>
            <a:ext cx="891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773" b="0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+ accrue platform and affiliate share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2EB8801-EBAB-4EB1-AE1A-209CE6CC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AF9A71-6206-49CD-951F-08876D4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A88017-93B7-4D5D-ABBC-8E75FE4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Architecture: app UX + API + runner + BotVaultV4 + Hyperliquid execution adapter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949A426-C7BC-4C2C-BE06-490D026F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27280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4FDC1-E59C-4F4E-A73A-1184F54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D8752-3929-48B6-A311-7DEEAE9B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D41D2-28D6-4167-AA0B-6D45D0A9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1AD9C-BB2B-4F3E-9B2E-21CED87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CB31D-5ACC-4909-8F91-3808D55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9D1D7-AB1A-403E-BBDE-34D10582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2F12B-8EF9-4151-B3F2-69C73880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5B7CA-D993-4AD2-B79C-5D8D83A2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4CB27-9385-461D-B379-78A9B4B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1741F-6393-4A7A-841B-3E69D3AF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EECB2-67B4-4574-9E4C-8D7DF561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E8686-7E64-4A51-93BE-77CFBC6A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413A2-5E8B-454B-9EEB-FD932EE3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9FEB3-5625-4AF3-A14F-7FF30F8F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1138F-425B-4BCD-A55B-68B78E40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13062-97AA-4AE5-ABE8-080410FC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9A93B-735E-4AEE-B7B8-4388D615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79223-765A-4129-ACA9-DBAF5B9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3F6BE-0811-4CCA-A796-18EA34D0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65B65-7556-4782-8B75-D22EA647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31575-DAB4-4817-9056-40ACF6A0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0DCC-A5C2-41BD-A816-3C25FEB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F24E5-06E2-4298-A144-FEC05A0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086AB-6A13-4777-8240-21523F8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D6932-20CB-4EB1-8B2B-AEB3087B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319C9-02B1-4D50-8D9C-770D3369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7BA3B-2E69-41BB-AFC0-3A10C6F2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2FC406-2804-460E-B837-7BE623D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1EF06-F09C-4F15-8FC9-221A265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C6951-83AF-4FEB-8ECE-A61A4E22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07F6A-1136-444C-B3BE-54A5411F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244D2-F493-49B3-A9CD-CA13C0B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28CEB-6DF5-4863-A43E-07D77F0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F9F768-AFC7-4B39-834D-0F4BDAAE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CED79-25ED-4B2C-B483-1970041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90C72-6C66-4663-9E64-DC2E9A0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EB6F1-B5F6-422A-8D22-6E5C593E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CABD5-12E8-4CAE-9515-FF140944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8F6233-89DA-4621-A7FC-DF777CB2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46E70A-D031-492C-8333-8E4A9E2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474F8C-B793-4D0D-81DB-219BAA85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BOTVAULTV4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64C110-EA5F-46D8-9AED-9C204EEE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Every grid bot becomes an isolated capital account.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FA48A5-3FA7-44A4-9E8A-22CD2702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BotVaultV4 reframes the bot from a strategy script into a financial object: funded, operated, reconciled, settled, and fee-aware.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B8E908-F48C-4111-97CB-1A008E26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61960A-CF76-4224-B974-83C1575B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5418E7-D2F3-4C57-822C-F5A603AA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4B95D8-FD70-4F8B-A949-CC28CAC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VAULT ADDRESS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BC2A74-7ACE-41DE-9C72-B9958619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0x...bot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9A082D-EA0A-4A4C-884A-84147B5E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5F5D7-FC89-439E-A5E4-B201A09E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34899E-213D-4A27-9F49-DB02D9ED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34D07A-05E3-49CF-967F-ABA4FDBF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4CA715-53F0-4A89-8108-25E128F3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EXECUTION PROVIDER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755EBE-7075-4B6E-AEE5-F01525BE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A5F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0A5FA"/>
                </a:solidFill>
                <a:latin typeface="Aptos Mono"/>
                <a:ea typeface="Aptos Mono"/>
                <a:cs typeface="Aptos Mono"/>
              </a:rPr>
              <a:t>Hyperliquid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B95E14-69F8-434D-BB6F-C29E64C3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73BBC4-A367-4F7F-81E3-E1B4675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52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3A881E-2873-4ED3-8CAD-195AE1ED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694EC5-C6B9-41A4-8C3E-D0655C2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D83D3B-304F-43DB-925E-BD02A09E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FUNDING STATE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F8D94A-8ABB-45D8-B13F-BA162CB7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pending -&gt; live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998827-3C97-412F-969A-DD8DA0F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240159-CD1A-45B9-A45B-3F61AE96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3EF57F-97CD-4BF6-9A5E-E36D783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94A3B8">
                <a:alpha val="12549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9129A0-FF3E-4CDE-9F7E-9D0732F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FFE216-57B3-4996-A4A3-8F93AED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PROFIT SHARE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D11958-7095-4F0F-823E-2EF57D3C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locked policy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92F09A-72A6-47DD-9CA5-72BE95AF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F1BF46-5577-4BA4-89E8-933F7EF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24300"/>
            <a:ext cx="8191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B6FCF3-63E0-4F08-B95E-C44DBE35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8191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8BDF8">
                <a:alpha val="32157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899A52-CCD8-4273-B4FA-CF97479B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7FDBE9-0DCA-4E31-81F7-3CE611D2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created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9792E0-C5B7-4651-A5D5-005352BA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F5A397-AF25-4A3B-BE20-90DCB572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A7EB60-8E7C-4495-8756-CF992BD8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862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8D1CE55-FC3E-4FFF-9A1F-C045375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719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funding_pending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FBA5BE-2269-4969-9EB0-DE59FB5A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2390EE8-29A3-4EBE-80D0-DAA87A45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693C1DC-391A-4960-93E6-7AF69EDC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862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14902"/>
            </a:srgbClr>
          </a:solidFill>
          <a:ln xmlns:a="http://schemas.openxmlformats.org/drawingml/2006/main" w="9525">
            <a:solidFill>
              <a:srgbClr val="34D399">
                <a:alpha val="66667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4FF024-45C5-4995-BD6A-B28B4964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719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0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running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D82A5D-43AC-445F-B132-156DF4E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222869-F0E4-499E-81C0-5FEB8616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650146-6F06-4150-BD51-7AB7848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731738-6061-44FF-820E-77D4856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settlement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BDF5434-EF16-4F5A-A9DB-4BC0320A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3ACF4C-F4ED-4B80-AC33-1AFB6B1B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F4D4D71-4B87-436D-8CBF-FFC614DD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862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242A62-E6D6-4E14-A2EA-7C8853A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7197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630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claimable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BF7BA7-C1F5-4F46-BFB4-89C9E4E9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B2518E-1223-4FD8-B079-64D60448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33333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475C3A-A4CF-4E4A-B787-027128F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32F07D-F6E2-4AB1-9F21-37F38A7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Capital isolation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996C49-4E05-4804-ADB5-636A89D4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each bot owns its vault context, balance view, and reconciliation surface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F1E81B-AE7E-40A4-8DD8-3ADEDCAE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054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E33121-7E1F-4B32-9B79-23DB53CA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33333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23616B-FB68-489D-818B-E5BAA0E0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292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DB6383-78D2-4A90-93BC-012A112A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816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Recovery surface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C612D7B-AC77-404E-9C97-CD701274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864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funding, settlement, and execution errors become explicit states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E3570AF-AA69-4B54-94D2-A4EB3C1F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054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F9188E-18CE-4400-A6B8-2759BBCB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2925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D946EF">
                <a:alpha val="33333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3FF030C-F45E-4B11-BA8A-EC55B8A4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292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8E43DC-D33E-42BF-A8C0-0D458EF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816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Fee accounting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F48B7F5-88BF-47BF-BE6A-0043E52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864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platform and affiliate economics accrue where performance is measured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1B7309-33A9-4574-9BCC-3CFBB4A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C0188E-1A81-4D30-834B-67B3D1F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81CDA2-6A54-4A4A-898C-A63C70D7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BotVault thesis: isolate capital first, then scale automation safely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720D474-D9E1-4DC1-868A-F9270C59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14517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B761B-6579-4B91-AC30-4F13AC5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C45C6-14AE-4F8F-9219-63C69034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C134-F1EA-4B78-87DD-E714B25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E4A0E-3C3E-4925-84A1-8B69E878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34300-8160-4E3B-AE9A-1AC2441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05A89-911B-40DC-BA7D-B7FCA63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65977-96D0-4E7D-A095-0B82AC4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A4C65-4C41-4A6A-903E-AAD2B897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D229-8C06-41E7-BA12-FC69DAC8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28FD3-6CF1-4B2E-99E3-606DF2B0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02E10-BBC4-4C93-B000-75E8398F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1A93F-5C32-4236-A097-A384AFBC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21251-0F29-48BB-9329-B29F177E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0062F-3700-4A34-9B13-ACADCE25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25ED0-75B0-401F-80D0-1BF4114F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1B140-6CD0-488E-BD52-219F315E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AD3D2-A7F0-4687-887B-1436D337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062CE-13BD-4E98-9BE8-497486D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4E8E6-7FC1-4F34-9C6B-BF5CEB2A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8B85E-4B2F-45C4-AA20-5F43284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4D202-E9FF-4CEF-9CA8-7DE2236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A365E-3D48-49F8-B72A-A66F8804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FE877-524C-4D7B-862D-42C5557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F299D-E252-4EE2-9126-62DB0BD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4A633-1EF6-44B4-9666-7FEEC23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E67FC-B043-468B-BE6A-215A0527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C3D9B-6109-4397-B569-4D948623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6AAD8-72EE-425A-9906-2593EE6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B2F00-A727-486A-B2B8-A1A3469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17C81-870C-4E5E-A79D-BEA76B4E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4BCAE-231B-4151-BDB2-DF91EC9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928227-5B2D-4474-B218-2348B1C5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F08CA-0E9A-43F2-9E02-FB3BDFA3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F4485-F713-4BAE-B603-53F34AFF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4B0CF6-F1E3-4F77-9AC7-E15730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C7B711-590E-4B9E-AB8C-ABFA2DB1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9B86CF-B8A9-4780-B567-2D22C53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3993C7-5D35-4625-8D4E-D82CA728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7CDED8-149E-4309-BC14-D7F12BC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9D1BC8-A70B-4E83-BE69-433B16B2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FFE9A9-D729-4A61-AA2B-6AD5199D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PRODUCT WEDGE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9F513C-27DC-41F5-8BDD-B858E8F3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Grid bots are the sharpest wedge into Hyperliquid automation.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91BE0-29B8-433B-92A4-441D54D7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Grid trading exposes the hardest product requirements early: price bands, active orders, leverage, liquidation distance, capital reserve, fills, and settlement.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7F0377-B27A-4C7E-8A74-F2C8C62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634913-8154-479E-8C5D-9216920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38BDF8">
                <a:alpha val="2902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1A09A7-730F-40F0-BC24-770A8AB5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61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HYPERLIQUID BTC-PERP GRID LADDER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0818C9-CE71-4E56-863B-38E6B16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267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78009D-9E85-41F7-8676-C2AE5E43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04825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62B76A-2B94-4421-A484-6645D57E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756" y="4114800"/>
            <a:ext cx="221894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400A35-CA5B-46B4-87B1-B14293C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0386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E47E57-0D6B-4E8D-BC9B-4D826B2F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BUY ZONE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6683A1-6FBF-4B7B-A67A-F22C283F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86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SELL ZONE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CADB5D-980E-4C89-B46A-D771E77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B7185">
                <a:alpha val="33333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A88AB6-460E-4019-80E7-9B887D68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622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S3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6D0EC3-B458-4D9D-A4D5-FDAE4B1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432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rPr>
              <a:t>$72,800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C0BBBA-98D6-46FF-B109-4B30AA66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6227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0.08%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97DDA7-0B0D-4305-97C3-F2CFBC7E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956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B7185">
                <a:alpha val="33333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1D7C84-1257-48E2-9538-0C90109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623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S2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3357FC-0FCC-4564-8D33-534AE5BB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432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rPr>
              <a:t>$72,120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7441E3-97A6-4320-8BD3-327E2A33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6232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0.22%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206FC3-9E58-410A-9CE9-0209C5D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FB7185">
                <a:alpha val="33333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5E7753-BF9C-41B6-9F76-785FA7C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623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S1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0E0601-324E-4C8E-8E4D-19B020C6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433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rPr>
              <a:t>$71,460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0DD9DF-DF02-4CD7-B11D-B38338D0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6237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0.34%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FB465E-071F-4181-BFDE-405DDF70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34D399">
                <a:alpha val="33333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C8035D-63C3-4628-850A-FD25FAC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B1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4D6C03-AD7A-4584-BD5E-DC894AF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33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rPr>
              <a:t>$70,880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229EC4-9CCB-4E57-B4DD-8805E32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6242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0.31%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36AAE2-3EE4-46D2-B685-DF96509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34D399">
                <a:alpha val="33333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56DD0D-BFCC-44FF-BB3A-E6182CA6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B2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14F3D7-A60A-45B2-AE24-56A3251B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434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rPr>
              <a:t>$70,220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B7A688-BC0B-42FA-A8AE-552E7B5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6247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0.42%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74CDDB-40BF-4DAE-9F1D-AF332342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745"/>
            </a:srgbClr>
          </a:solidFill>
          <a:ln xmlns:a="http://schemas.openxmlformats.org/drawingml/2006/main" w="9525">
            <a:solidFill>
              <a:srgbClr val="34D399">
                <a:alpha val="33333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8809CB-3A59-4D45-B82A-F8A2B7A5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B3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963261-FC6D-42D4-A7A1-6732338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434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DF4FF"/>
                </a:solidFill>
                <a:latin typeface="Aptos Mono"/>
                <a:ea typeface="Aptos Mono"/>
                <a:cs typeface="Aptos Mono"/>
              </a:rPr>
              <a:t>$69,560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E3CEF72-235B-43F9-A21F-D2FDF1C8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0.55%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5FEB72-54DF-42CC-8D71-56C3BEA9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375A8C-E998-4047-8825-61D3A5B2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4B4912-0454-4816-B584-43B6123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WHY THIS WEDGE IS DEFENSIBLE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D55B1F-6160-49EF-9D9F-837EB6F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B317240-755B-4793-B1DC-689CB20C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Visible user value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D5DB85-B791-486A-8228-C57160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a trader can understand a grid ladder, running PnL, open orders, and releaseable profit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1316226-A429-450E-9A5F-D98B2DF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3C5E5B-05EF-461D-82F7-2CCCD517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Operational complexity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0A53EC2-2C65-4CEB-BA97-C1E2A16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real-money grid bots need funding, exchange state, safety checks, and recovery from partial failures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D2858A-D900-469E-959A-891F7F0D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6F84109-6B3C-41E8-8164-F7A32799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Compounding data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596AFE-B8F0-4DBD-9B44-1AC3FA6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fills, grid rounds, risk events, and strategy settings become the dataset for better templates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663C64-DA9C-41D2-8D2D-5E782680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D8DE24-E940-45EF-AF47-CEB0D4F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Marketplace-ready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63F72C-F80B-4361-9661-7909217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57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vaulted templates can later become creator strategies and managed automation products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394C3AF-BDF5-4887-9368-3A827A87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CED6AE-BE4D-4EFC-952C-DFC51D07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688BACC-85BC-42B0-8898-20260C22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Wedge: Hyperliquid grid automation with vault-native capital boundaries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6BEEF1-81F8-497B-9FFC-14FB97DB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73894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D0E7B-605C-420E-ADED-B8C932E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39709-1EED-48F0-A6DB-65F92D0C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06771-9FAE-49BA-AD7F-47A9510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B472B-E866-491A-804B-4C15248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4F355-A001-4969-8EF2-03C46D0D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DBA7C-85F5-4B03-AEF6-1E593295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6E9F2-647D-4003-80BF-61FDE61C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9680-4DDC-48BC-9416-FC63D60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8A9A4-091B-4CAB-AD41-75866058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4CC20-F1EF-4FD5-9563-7C3E01CA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67507-BB92-4489-8ECC-D0C62DA7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69E41-0A2A-4156-BEF5-EB049715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18931-1F76-405A-AB21-BBBF792F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9E55F-E5F5-49B0-8E76-7224197B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7BEEF-F76A-4383-90AE-A7A2E457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B9944-390A-42AA-8A99-E6FBDF5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C7E64-9C99-4A86-A6AA-F5119C56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EDAFE-5221-4307-8B83-FF8DB9BA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E0C1E-6423-44A4-B184-F7F8E5E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00599-0088-4DD7-8357-6A0ED4C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62E6B-4290-4949-AF16-52346CB4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562F2-0E4A-4C82-8E75-B9E7118D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DD546-2E96-452F-A62B-BCA4B4C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96FE7-7842-4B71-AD6B-27877D49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0A196-803A-4CE0-B9CE-F98C911A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5134C-DCF8-40D2-830E-1C9ED70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7F30B-7DBD-4D84-A07A-139B6E05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08E5D-6C64-40DE-A0FB-7AD9601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D3CE1-1A06-476C-B4D8-B0D92127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0A9C5-E0E0-48D8-8C08-D6397C2C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B1AAD6-5E7C-4129-8A74-5C7759CD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BFFE12-1A9C-4A20-84FD-B8B549EB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4F1B3-E2C0-4F2B-AD61-917107B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3DBE0C-E421-493B-BB4C-660C7CD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54DBB-8BBE-4AEB-8E0F-08A6C936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79A0E0-399C-4D18-9BE7-24CD7077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04E40-6422-4843-942F-260E7552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521F37-869D-4D14-87E8-BEA2A8C5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221ADA-F754-4911-A502-FDFC54CC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81349B-2424-447B-BFD8-1362680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B16152-1BB5-4D7E-93C6-3B4F5E2B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SAFETY AND TRUST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5925C6-5EEF-48F6-A69E-E50FFB09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Automation scales only when the failure modes are designed in.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0DC218-402D-4DD7-9259-CCB74C9A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04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uLiquid ships the safety grammar investors expect before widening access: capital floors, reserve checks, liquidation-distance controls, release gates, and reconciliation jobs.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7EC261-362A-4CA9-9104-5FA6815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3667B3-9C05-4102-AD92-315E9FC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2A"/>
          </a:solidFill>
          <a:ln xmlns:a="http://schemas.openxmlformats.org/drawingml/2006/main" w="9525">
            <a:solidFill>
              <a:srgbClr val="60A5FA">
                <a:alpha val="18039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A5163D-BD50-45BD-99AC-17456CFA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16F013-6294-471C-8B6A-FD0EBB1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03A724-8148-4D01-A0FD-704695C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Capital floor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0D925E-6029-4FFB-9D6A-F1FA5F4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81275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minimum grid capital and reserves before live execution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308FD6-3264-406D-8598-BC6FB0C0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E27F17-E382-4AC8-8387-BBBFCE20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2"/>
          </a:solidFill>
          <a:ln xmlns:a="http://schemas.openxmlformats.org/drawingml/2006/main" w="9525">
            <a:solidFill>
              <a:srgbClr val="60A5FA">
                <a:alpha val="18039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7639D6-8E08-4B39-9CDE-24339A7B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DE3B44-EB4D-427E-87C1-06C7D88D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04D6C1-62B0-42C7-B9ED-F2F412FB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Liq distance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1FC7DD-1245-44A7-85A4-4814451D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28975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warnings and blockers when leveraged grids sit too close to liquidation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52B3E4-AAEA-4923-B7FC-5DC119B4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2D5193-2856-4532-8436-465844D1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2A"/>
          </a:solidFill>
          <a:ln xmlns:a="http://schemas.openxmlformats.org/drawingml/2006/main" w="9525">
            <a:solidFill>
              <a:srgbClr val="60A5FA">
                <a:alpha val="18039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BD3309-9E13-41CF-AF05-8E913A3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3653F8-4D0D-4245-8162-9C753A1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A906C-534B-4D1D-84D2-B5F21871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Funding pending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C6A109-9F68-4F69-A667-8C502FE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76675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explicit state for wallets, HyperCore transfers, and vault readiness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54C1AB-190D-4433-8AA6-2607BD5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B9BB5E-B430-4725-81D5-B3F1FAF6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2"/>
          </a:solidFill>
          <a:ln xmlns:a="http://schemas.openxmlformats.org/drawingml/2006/main" w="9525">
            <a:solidFill>
              <a:srgbClr val="60A5FA">
                <a:alpha val="18039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4AD030-BF10-4296-9866-8581DCF7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CD63B5-8176-4BBD-8E86-DA5DCA1C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D62A0D-3487-4585-A6C1-425FC95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Reconciliation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0D17FD-E033-448C-BB39-470A5C09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runner and API jobs compare expected positions, fills, and vault balances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7C2FC6-B9D3-4AC7-94C3-1663B218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DCDB6B-B696-4936-B4E1-E11BE6BC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2A"/>
          </a:solidFill>
          <a:ln xmlns:a="http://schemas.openxmlformats.org/drawingml/2006/main" w="9525">
            <a:solidFill>
              <a:srgbClr val="60A5FA">
                <a:alpha val="18039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769721-005B-4033-9C87-1FAB5E69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97C6E9-D44E-4114-931B-3FF8F0BF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619163-80BD-420B-A582-FB77643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Release gate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35BB1A-5645-4534-A213-1CF28288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72075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controlled canary before public beta and broader vault marketplace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2FA28A-4E9E-4391-B44C-5908EAF0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572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9574375-2EB1-4BE8-9126-4515D86C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810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4D399">
                <a:alpha val="33333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F36B91-FC96-4502-8CC8-74A28DF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906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Trust primitive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569AB0-B095-49B8-88DA-38AC0E2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19200"/>
            <a:ext cx="1924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A vault bot can be stopped, audited, reconciled, settled, and explained.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1FDD03-89C8-4EBC-8A91-CC7F396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337E87-725C-4CFF-928A-10E547B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9AB638-4220-4475-AFF6-06F43DC1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Safety model: capital controls, runtime state, reconciliation, and operator visibility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5974BE-27D8-4594-A2A9-5AC7202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28025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D0ABB-E4CD-4865-9EC7-AA6BD00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864A5-9FE3-4541-B66F-6E0FAF21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D2F2E-BD04-49EB-A1AF-BAEB4D0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7669B-104B-43B9-9C4D-DF41DDB2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DE4AB-6739-419E-821C-ABE598E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352C8-4837-4E45-AF12-953B154E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2CB5-4C4E-4684-A9E0-3F85F2D8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009B6-FFED-45CC-951B-BFAA2308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03CA1-BEE1-4349-BBF5-0D657F13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1FCE0-7399-40CA-8398-DFD4CA2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A7F8F-C37C-48FF-BA1D-552AA303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46AE2-8B7D-4468-9071-F4CA6247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1302D-2052-4EB6-908E-74B90B9A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8EE79-7C59-4BFB-A944-8BE7E18A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EAC30-0BC9-43E4-A0B2-45AB0DF2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384EE-E45A-4502-8A66-2142845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8DEA3-6A46-42E5-919E-2705114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965E8-B1EE-4C06-B0DF-647CDB90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48FCF-DE8C-4001-8388-C4408827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04460-0177-4228-BFE6-F82C6EBD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847B5-F234-448F-8D46-F68CB01C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5C70A-3136-40BA-A7FE-6A62C210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2328E-968B-4EDC-8DC3-D766B35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85092-CF7B-4869-9913-B6BBC4A5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B6AC6-0477-41C4-8D8F-A7610594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61292-8B3C-4949-84FB-D838058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E661F-0F02-4DD5-8A13-553560A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BA11A-CBFA-4122-971B-2DDE8AE3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90040-6EA9-4829-88A1-02A95AD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51203-CCCA-4CDC-910D-4AB0F7EC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15A82-0AFE-4BA4-9880-15A2310C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D9CE1-FE49-4F07-B929-50FD13C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47D34-1064-46C5-A365-128B98E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BBACB-4A54-4083-8C17-860AADA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736D62-5F69-4002-A52E-F328FBE7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92C12-7A59-4B7A-AC5D-34421912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6F68A4-476F-4541-A0E9-17C9E0E4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AD5DA3-D658-4E60-BE6F-232DC2F2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9EDB75-3211-498D-9B0D-289C30F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E300A1-2323-4A33-ABA1-ADDAC198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7EA7C1-5AB5-4BC7-9931-49D6D8D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PLATFORM 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21D186-574C-4D04-B7CD-83E3F59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The desk extends beyond bots into a full trading operating system.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D108C9-449C-4448-9437-B027843E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BotVaults and grid bots are the wedge, but the product surface already maps to how active crypto traders operate every day.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CF8E8D-6461-4E7F-B280-719E3D5B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A39173-57A1-4F90-903E-5FBE3FED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BA705E-8126-4842-A3DE-8AEFAE3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CE9802-9E78-4119-ABDB-0C5B177A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Grid bots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9D5C9B-C66C-44A5-BC0B-74F3592C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vaulted Hyperliquid automation, live states, ladder 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A71C16-0A01-417D-89F2-49C775A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B70E9-96AE-49BE-A3FA-6B944730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921304-A9D3-4955-A6BB-95CAA17A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D89325-D989-4C18-9993-2AB7C02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BotVaults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86CB70-3066-4E26-9126-92570213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funding, settlement, claim, fee accounting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1098D4-BC9E-418C-B0B8-AC3DF12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30B5B7-ABC9-480B-9417-33C8037B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73C214-D158-4872-BE52-5AC457A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CC70D6-2DE3-473D-BDD0-5E7D305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Trading desk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6E4D94-485D-4927-90E7-669CBFF9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manual trading, charts, exchange account context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B359A2-07BA-4965-89ED-D93F119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527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080DDD-273F-47DA-B7B6-C1600F2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D946EF">
                <a:alpha val="4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0911D1-0136-41F4-B041-DAB1E407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63A87B-AB64-47D1-8A98-E6EBBA1A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AI signals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B875FF-36A4-423D-885B-74D0BA74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predictions, prompts, strategy defaults, market context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F3ECC8-D801-42AA-9D54-47879901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6AE7FA-31EE-4336-BDCD-CFE16941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EF5D89-D619-4397-9BC9-9F8BC1F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AB2B79-7316-427E-8B41-A553BB8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Wallet/funding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1149D8-B149-4781-8C19-937E3F1D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USDC flows, bridge steps, account history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40F521-56D5-4A93-B0BF-19E1949A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0CB47F-593E-4BEB-B986-379D852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FD4E27-F2D3-4BA8-B49B-E8698150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E230EA-37A6-44CF-A289-FD572FB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Admin/risk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DBC033-5F45-4902-BC90-41E73589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audit, safety controls, runners, alerts, access gates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9E2872-7C92-4E7F-9625-B8EB755D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03D484-2D5B-4CC9-8A72-2D400DF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8AA0D9-0978-4C1E-BFEB-9E627EFD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DCFC3A-003A-4673-A150-B24C43D6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Licensing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8D88D6-C9C6-477C-B9E2-B9163C82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feature gates, packages, capacity, AI credits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E4C940-3B99-4DED-AFDA-D75E0C40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95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962A74-1CD5-4B86-B833-F5F65711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38159B-3D46-4252-9B35-51CE0AC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D0704A-C45B-423E-BDA5-048C03C5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GTM tools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1FBB16-ED6A-468F-B20E-E192E91C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005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affiliate view, profit share, creator distribution loop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EFBEA0-AE53-47E1-B076-D408E8E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667339A-6FAF-4FD3-984C-7F151AF8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8BDF8">
                <a:alpha val="2902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003BEE-6047-4588-A780-A4897BB8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531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Platform strategy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A3FC83-B53C-450A-BF53-97E13ADD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769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Start with the highest-intent workflow, then attach every monetizable control surface around it.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F47BAF2-5523-4B18-BF4B-1FF063D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4D2739E-EF14-496E-9E52-BAF1C9B8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A0C37B-9FD2-4427-82B1-0E87937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Feature map: grid wedge expands into desk, AI, wallet, admin, billing, and GTM surfaces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5B4A994-D392-48B7-86E3-D47DD6E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15553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0928D-C042-4F6F-81AE-25492E33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4D005-4A69-4F80-9CE6-9338CCEF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04B1-5294-4767-BC49-BC023520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BC545-7A48-4036-B870-840B1627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CD71C-07F1-4A5E-A056-ADDD7C3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7B759-3F83-4B09-9983-B595375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9E4F1-3C40-4084-81DA-7026E11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1A3BB-16A5-4078-962A-88947B8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A6A30-A193-43BF-8B2A-C7D80BB5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013F9-D790-49E2-88BF-E383064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52E6D-5331-46CD-A77B-FA442056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0B798-FF8C-43F1-8DCF-41A8DDF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E1464-AB2C-4927-B1B7-A9134342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129EA-25FF-49F2-84AC-708F2E2B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0438B-E433-4DF1-B137-2937FCF6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D19B2-EE27-43F6-8A73-9D3AB4FD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964F7-1A0A-45E2-9F79-D4CCAC9D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9F038-E25C-4ECD-8687-F3060E09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D9392-9DEF-4D93-9834-41C2931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80369-A611-48D2-AD8E-A647F52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595BC-D709-48AC-B2DC-DCB7824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2B41C-C65B-4249-A714-2E7EDC4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10BA1-D5D7-4EE9-995E-0C242045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BD22D-FF58-477B-9821-1D10A4AE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85999-635E-4BB0-B34C-F9177A6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CA6D6-E6F6-40A1-A26F-AC6CAB45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25D66-B3E2-46F6-A3CD-C9B4399D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EAEBB0-EA36-4399-9D14-F2F0CD7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351DE-C179-48D1-8342-58182707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60744-63D8-457D-B3AC-70D6C6FD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F748B-40FA-415D-AA56-0681754C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DE483-5D62-4BD3-8E51-48E2F643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B5EE1A-70F1-4394-8C3B-9254FFD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BD5D18-01B5-4148-B5FF-B0693BE9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ED8AD3-114B-42B7-8E84-F624265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F67D80-4A5E-49C1-B559-C2DA4FC7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2D02DC-D107-4BA5-B317-CBD9241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5BC29C-7CE3-4744-A3C5-CE58127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B81EA9-BCB9-42C1-AB29-254A876D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CA5F2B-C9C4-44D3-8D5A-7F82FC6B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19633A-76B8-4961-9B00-BD97D7B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MONETIZATION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7B634A-9314-47C0-9B45-7803E5F0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Revenue can stack across access, usage, capacity, and performance.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9805FE-FE2E-469A-9B65-5D44BAE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The model is intentionally multi-rail: predictable SaaS access first, then usage and performance economics where automation creates measurable value.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AD22E8-C30B-4011-A129-9F6F2D45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39D392-B34C-4D68-BF0F-247EE649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9A6A2B-C44D-4731-9755-630D54D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8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850E3D-0BEE-4354-AF69-E2820E14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Subscription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AE7E04-24AE-447E-A9B6-64D5DEE6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$29/mo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169747-98B2-4E3F-9DFA-C7E44EE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C4A72B-6259-4F7A-910C-BB7419F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Pro access and gated product features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9A7A6F-DF4E-461A-B8C8-0C155CB5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1B33B8-0A3D-4F5E-B951-88DC264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146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D946EF">
                <a:alpha val="4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E22ECA-D415-460B-AF0C-CE34CA4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14600"/>
            <a:ext cx="38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F5D795-5400-450E-ACCB-A81E5FD7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AI usage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20E42B-CE47-4152-AE84-D9492A3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$9 top-up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8D438B-A20F-479C-B792-FE18F691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77757C-E1F6-4EF9-A93F-105E16E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528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250k AI credits per package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065667-9954-47C0-AB2A-116581C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7B4FAF-5C5F-4334-AECC-7F0E6C1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07DE3E-3C2F-4EDB-8130-9A02400D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38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D8D582-39EF-40FB-8BB5-A3FD2564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026BDA-B95F-440B-A39C-3A66849A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86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0A5FA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60A5FA"/>
                </a:solidFill>
                <a:latin typeface="Aptos Mono"/>
                <a:ea typeface="Aptos Mono"/>
                <a:cs typeface="Aptos Mono"/>
              </a:rPr>
              <a:t>$5/unit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075574-91E0-470D-AF51-F6BA5EFB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1CADAF-6AB0-450D-8970-70E22D3C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528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more bot/account capacity without repricing base SaaS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128669-37C4-4421-8FC0-37EB1B3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08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9B101A-AB48-4B1C-BDCD-F19A59BF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BD1FB5-5B28-4C7F-B101-8D86D6F1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38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4C56B0-AB4A-4A58-8174-9EF998A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Profit share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747CC3-175F-46C5-94BD-9F6FE85F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5% default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746C2F-E2CA-4975-B15B-7956E4C5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5BD042-CE1F-416A-8CB4-C2CFEF2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platform share from vault performance policy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A9822C-D3A7-49E8-8C8A-BE0B3272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1EEFD2-B57A-4F0F-8081-86E352D7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1752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B65BD0-31C9-4959-BD33-FB2019E6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38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7D1CC6-E460-4874-9EB3-C37F607B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Affiliate loop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ED17AA-AC97-4C90-9E4E-D84C0F39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10% default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DD28D8-0CAA-41AD-8799-1925840F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8CF81E-780A-4A71-8954-E4D4B1C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creator/referral economics tied to distribution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A87D1-68EF-4E2C-B362-F6621EE5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847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A23936-AD90-4661-A33C-01530269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847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85F368-EE3D-4F6A-9FA6-162A561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8600AC0-0142-440E-9FA7-AA108B99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24450"/>
            <a:ext cx="641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21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Subscriptions monetize access. Capacity monetizes scale. AI monetizes intelligence. Profit share monetizes outcomes. Affiliates monetize trust distribution.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3D6075-B914-472F-B5DB-0905B5E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6B1582-0D56-49CC-B5D7-87032C31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4C1296-32DF-45AF-83CD-425F1767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Pricing references: billing service defaults and affiliate/profit-share plan in repo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F6AB4E-C0B1-4FDA-9A79-9B53FCB6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03114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12DDE-B03D-49DC-92CC-F23E7F75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BECF0-43D0-467D-8D32-73969D30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1FDC-2C42-44A5-B9F8-BC26692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46330-39C8-440C-BE34-59BDC0FB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202B0-DA13-442D-95BC-B1106DD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E1944-91ED-49D2-AF55-D8F9010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2E400-55CE-423C-AC00-23CA2FA0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5F978-99CA-48E0-9E55-A322DB46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19E21-A296-48FC-8ED8-9A11D925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6FCB2-5AD7-4D61-8EDE-AC1CFBF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3B232-1919-44DA-942D-2B5D41CE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2FE35-2B7B-4533-94D2-801EC65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570AB-3FDE-497F-A7E7-0AE4F559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86C18-3FBA-4A4C-812C-411C800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FB9E-B62C-49DC-A9A4-5015CAD9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45B7-CEBC-4793-B9D6-00794B6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398FC-BEE7-4DE3-98E4-CA6343B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C944D-623E-46C5-AF95-23DF1A02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168BE-CEE5-4058-8C7A-9E43065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83E73-488F-44D9-8D97-D506D3D0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5B5C6-6FBF-4303-B786-6412AB05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54F61-FA64-45E8-B93F-F666F1F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37950-C11D-4DFB-BA7A-CABB1782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E30FC-08B8-4C80-A41C-D0EE8849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ECE48-B856-4A55-B431-8E56B38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F61EA-2B55-4194-B41C-C0336EA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21605-C88F-4664-94A2-F265E24B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A4104B-9786-4F81-8700-72F15E05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EC190-C2BF-4D6E-AB06-1F15965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D2997-181A-46D0-8D11-6740FD6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D051F-97FE-4DD8-B8EF-6620AFBE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4B489C-2F3B-427D-BCDD-A0E140C5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6EF3C-FF56-4F31-9442-F94C71C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5D238-FD26-4726-A6CA-027ACB77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C2C47-6DCD-474D-B1D2-44815076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1442DF-ED79-4B0E-86E6-CAC4411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D8F24A-86ED-4C7F-9338-B1A1AC9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C55D91-C644-4FF7-B12B-3E0F0D00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1441A1-DBCD-4EC4-9AF6-A10DB4F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4000F6-7813-4A0F-9A46-9F49118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27A414-74CC-4A8A-986C-37AC001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COMPETITIVE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388E6E-4C98-43CD-A76A-93805D12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Bot demand is validated. The gap is the vault-native operating layer.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AB022E-A243-4B26-87AD-29B9EB4B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00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Hyperliquid grid, AI, and DCA bot products exist. uLiquid should win by owning capital isolation, safety, accounting, and desk workflow depth.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7BE2C-A314-4459-A9D9-F9BEA3A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895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0E88DB-7EA2-4C3F-B151-61B36445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95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ED271-81FC-4311-AFD8-6DB2EDF7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81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23C621-91C4-4F0C-8D2F-4216103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Market bots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06FDAB-CD5B-4932-AB7D-C61C863E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Strategy setup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Grid/DCA/AI automation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Trader-facing UX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Limited capital accounting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E35078-E22F-4542-8D9A-1B3D96C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ACC15">
                <a:alpha val="53333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644061-0DA9-4DB0-9EE9-B117B67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VALIDATED DEMAND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88A736-A9E1-46D9-8ED0-C210332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2895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9BFA21-84A1-40FE-A930-FA22067F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2895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7"/>
          </a:solidFill>
          <a:ln xmlns:a="http://schemas.openxmlformats.org/drawingml/2006/main"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F85E5A-BB18-4C2C-99E5-543C46B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81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A787AF-F7D0-4A68-9786-34A95238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uLiquid wedge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6E81B5-E02F-4787-AC37-38CA1AD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BotVaultV4 per grid bot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Execution and funding states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Recovery and reconciliation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Profit-share accounting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EEFC05-9CDB-436F-A759-560FA66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434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38BDF8">
                <a:alpha val="53333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0BA814-09F3-4EEA-AC92-FBC11EC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OPERATING INFRA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531996-8AE3-4E9C-84D3-2079B70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2895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983356-A555-455F-8622-04699654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8956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AE18B3-9009-48D3-9B89-273BB69F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81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134EBD-8F65-40DB-8766-A3C6CBEB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Expansion layer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B9917A-461F-465C-9855-76B738E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Creator templates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Vault marketplace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Admin and risk controls</a:t>
            </a:r>
          </a:p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Institutional operating desk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09A893-D216-4CFD-A2D3-AB707D8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34D399">
                <a:alpha val="53333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4825A1-C821-4835-BAD9-039B2CB8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91075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615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FUTURE SURFACE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62EE63-7310-43F4-B385-1E35F7FE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76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5663AA-2642-4F87-96D1-FACB174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AB3B75-95E2-424F-9B98-56A2507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76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CAD232-1354-4E9F-B0F4-16D84DFB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92CD9A-F5BE-411B-8099-004BF15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3800A7-F82C-49FA-B62B-284CBB8C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D1D9C5-E644-4A10-AB7C-C01C86A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Competitive scan: HYPX, Gainium, MyLiquidBot, Gridy.ai; position is infrastructure depth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DA9FC2-C7D2-4033-B614-D4BEBD4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48478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97B53-0216-418D-AF90-43F106F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96A6E-5E3F-4E8C-A9F1-55042B9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7A3B1-D81B-432D-871E-8C337C3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0D653-0837-41D0-9C8B-B6C892A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D9A8F-C262-4D65-8514-796288B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C4E21-8FD4-48FA-B531-D28F761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59D49-A33D-4ACF-A9C9-21DD9E77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3EECA-3155-4F56-A185-62AE62A2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FB170-8124-478F-96B5-8BEC8F51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E91AE-6B52-4B33-8F5C-7563D8D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EC174-0DDC-40E9-8238-4E5D00C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2BCF2-431B-492E-937C-ED11E062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964D4-B62E-4612-A72C-792E8BB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3D2E5-26E3-40E8-9806-58651FA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DC4CE-DA2D-48C5-9468-274FFC0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55B46-34BF-4BA7-A968-63BEE20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7A407-C0E4-48BA-A5DB-532ADAF5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33643-B243-4BCD-A7C3-89D5B975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935DD-471C-4AD9-84B2-5644720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7F161-3E5E-4F4E-BA3B-DB6D845E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42AC8-8C69-4F33-9A1F-1F284678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0C5B6-6AA6-46CD-972B-01E5E847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F510A-248C-43B7-9D60-C9128AA3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723820-D4B3-4150-88D4-7E2C463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6EBB6-BE35-4503-8756-BD96D80D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23E53-533B-4C43-86E1-C2C3BC7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0F8D9-B98C-4ED6-9151-7E0B1CBC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8F282-9129-4D59-86AC-7543165D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536C0-B332-4CEC-8737-D18D4964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6E8555-D4E1-452D-8251-E131FB84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8F678-0235-4EB7-8E09-AECF360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E6C0D-8107-4B3A-9E6A-6E712B3D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FC3848-0044-4D93-B5F8-139D6233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38EA42-A096-4B4A-9EAE-85AC912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E8F7E-002E-47AE-9C63-463C7E13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27CBB-0D64-4BC9-B526-8249061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94FFC7-24E3-4881-8FD6-5F027B99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62B826-4250-48B1-8070-CBC82F4B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E36905-A40F-4776-874D-A9B2A81F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A0ABF1-C603-4172-85A6-361E8783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46D99A-D6A5-4C51-A8D1-1070F83D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GO TO MARKET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7A833B-CD73-459A-B79F-2FF04E2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Distribution should compound through trader trust, not ads alone.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F5BBEA-1964-4691-98FE-3CAB0F2C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The natural crypto GTM loop is creator-led: prove strategy performance in controlled vaults, package templates, share upside, and convert followers into funded automation users.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2E35CB-DF31-4351-8DE7-8FDC9C5D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574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35982C-02AC-4E45-ADEB-D5932BA8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812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FF095-14AE-4043-AC98-C49F15F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812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57CDFA-8EB4-49E0-AA67-6D67B90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526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Canary proof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640E94-4F8E-4E89-9A52-25097FD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003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live safety and fill 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ECDDCF-3D3A-4B47-959A-293A75F6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EF8FF7-A2EF-4D65-B6F9-002EA6F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21F5AB-178C-4368-B365-135B5A3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3D62DD-9AEE-4680-92B4-2CF8140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Creator template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618F18-EAD2-40FE-BE32-0CE73BF6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grid settings become product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AA60A3-B264-46BF-8FBA-52F41C0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052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85C6B9-70E9-40B2-8BF8-53F9ECA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290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5FD06C-983D-4E93-82D8-BE9F9BE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290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39B5F1-15E1-4D51-B370-5D9A73F0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005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Affiliate payout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B1324C-FD03-425F-B6FE-A2B35A55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distribution gets paid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7F38AD-9D41-4D94-AAC3-CE8AB038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958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3BC98A-54AC-4C3B-AC7C-4D03064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196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D946EF">
                <a:alpha val="4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152D44-B678-4100-97FA-A6F649B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196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7EF67-4C58-4EB2-8941-6B7EAA8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911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Funded vault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FAF24F-90A8-4697-AC13-2AB8BF5D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capital enters BotVault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55603C-DB2A-4393-AF31-B493A06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3D78EE-9636-460A-9FE3-43507AA3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36D61D-B8AE-4A44-92DA-4BA6B32F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1D1C0D-D686-4D0D-B701-ABA72710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005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Performance data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F19A73-4FAF-4EDB-ACEA-D3775085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rounds, PnL, risk events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8B5BF2-8E0A-42B1-9651-640B5242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265A47-6F9D-45E0-B58E-3A38B113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E5340F-34F7-4564-9108-5F7197A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813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4A4416-F2D0-41B1-A0B8-9EF96E7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39002B-43C4-4B63-8C40-4DC0214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9625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9794C17-4268-4E54-B3B2-D3829C89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FCB5BC-F132-46E7-9CCB-CC53B838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76825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2DDAE1-277C-4555-A73E-3325ABE0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63F77B-E439-4125-91AC-88799797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9D2F96-CB0D-4DD1-8744-E55FEE66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9D850E-DF75-4BB3-B0CE-7624E5CF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305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1B9AAE-054C-4712-865D-8BAF25C6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305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60A5FA">
                <a:alpha val="21961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056A27-26A4-4254-8DCA-52689C27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57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INITIAL MOTION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E543BCE-EA67-44A6-A87C-AF1C44F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E4E43F-37DD-405B-A6E4-887C96E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Start narrow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0E7DF7-B4C8-4E22-9D0E-904FF7AA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Hyperliquid grid traders and creators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8431B2-387D-4FE4-9876-7D8CB119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8C8AE0-166C-4702-B332-0ABF62B4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Show proof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1DE3846-8053-4614-A92D-74EBFAF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canary dashboards and vault accounting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030A63-AD1E-409A-BEE3-BBF7A97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2850AD-9AFE-4460-B227-F5EE204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Package trust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C0DC4A-AFC2-48CE-88D8-4E9F2F6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templates, risk defaults, transparent fees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01818F-D25E-4297-97E3-AC43C765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F339464-9CDE-4B7A-AAA6-B050076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A767DC-0CDA-4C7C-BC0D-C7266D6F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GTM loop: canary proof -&gt; creator template -&gt; affiliate payout -&gt; funded vault -&gt; performance data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EB8495-8369-4EC6-A1B7-E3100137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8232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E76E3-D577-4E56-BED8-0BD5A5F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76E8D-5410-423E-BA30-5D20EAFB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64172-7F37-48E9-9AF6-A8738A76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9934-AD0F-48DC-9E29-32FF580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D1D1C-DA4D-48DD-B37E-E309475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1DE30-9742-435B-A702-805A464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D9D60-8935-4A5E-AED5-E6143C6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ECD69-ACC5-412A-BDDB-8C66B701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2E807-9A4A-44A9-AF83-3FEE732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2FE8D-C384-4677-BB18-56D835AE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B0504-5A86-4B6B-A0CE-44788C5C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B2EFF-894B-4AF9-90EA-6AE852D4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C8884-2C8A-40FD-A4C9-999DD986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B5E23-3F36-46A2-84B4-0E089862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FA9F9-4AEC-47EA-8F01-4226B71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508B6-9BBC-4FFD-8560-5DA087ED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60A78-9284-473A-9BFF-29D2A6BB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ACFEF-5B31-4C55-9339-7BF271D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BD7EF-5D64-4FFB-9925-E7F4E6CD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B1849-1608-45DB-91A3-2EC4B25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1EB5C-7BB0-4FC3-8F95-0D42A325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C0B5C-EA4A-4383-A072-525CB2A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D35E9-67AE-42A8-BE4A-A1F052E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AC9BD-FC5D-46A8-B512-D6313DD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35481-FDDD-49C6-9F2E-2A423CA4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EC037-0FF1-4707-8A6A-10035B31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D0861-152A-480B-A73B-E644B8AD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8D4B56-B5E6-46F8-AD76-AAF8550C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EA1D1-20E7-48D0-9796-C21CC4C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6D7136-FCF5-4DC0-A1AE-D42E7E8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25F62-A7C1-4D35-BE6C-B6F00EC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B656A-4F5D-4A70-8A64-2D276D70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250B0-0409-4A90-9F2B-FAB6EA1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582569-95E6-4BB4-BD7E-B321D184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C2763A-BEA6-42F1-A34E-40D340D1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1B2DA-9C9B-452C-A4DC-0CC54728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F374FA-5A01-45E8-B3C6-1C60D5F8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F9986-49AC-4AD6-BCB8-0B778A9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B622B1-D0AF-4660-A02E-A20BC1AC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0572DD-FCDE-4CAE-84AF-889F0BE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FBE3A-C686-42A6-A7FF-CE7D6FDE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C1947F-D72D-4DA0-B8B7-FD8AE91E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A controlled release path keeps the category credible.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4E758-CC88-4BBE-9A70-9C27857D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00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The right sequencing is less about launching more screens and more about proving that automated capital can be operated safely at increasing scale.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46F8B5-B00D-46DC-9F12-65A2759D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44B3A2-A289-46A5-93F2-82AB8FA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016"/>
          </a:solidFill>
          <a:ln xmlns:a="http://schemas.openxmlformats.org/drawingml/2006/main"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8D61CF-F131-4A71-9691-3E6D308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81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F4A6D2-B4C1-40D0-98A6-0523C74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8316A-620A-48AB-B4AB-5327898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Controlled canary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C70D33-68BC-4254-B3FA-EF1282D0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single-user/limited accounts, funding pending states, reconciliation, safety blockers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2D4302-D1A1-4061-826B-FCE9F30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95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278244-3136-4C59-AE1F-22F6F5E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709EB5-B213-42A3-B013-01540210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21443D-5C99-4A45-81CE-0072BF1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4D6556-C9AD-4D6E-BDF4-062DFDA8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381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561CBE-25BB-4A9D-8A71-7CFF2928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57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0772F3-707E-4070-BD9F-D6A1986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Public beta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FD7045-7FE4-4CC0-A806-0FE4E450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05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self-serve grid launch, vault UX polish, templates, alerts, docs, onboarding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B13209-1787-49A8-B975-DF6EA62C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95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C086E9-C2E8-4332-A266-52B457A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EF4BD6-0520-4667-AB0E-E01633EF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EEDBA6-C270-4C89-A2BE-EF6A77D5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D946EF">
                <a:alpha val="4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1B2361-B8CE-435E-9859-86F4166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381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8186B4-1D68-49E7-AA31-4E8304F8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5E6084-6D8E-4ADC-AF5B-41EE67D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Vault marketplace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D20894-5F2E-4CCC-8A20-857C8A14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creator strategies, affiliate/profit-share loop, strategy analytics, discoverability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2174B1-5342-4EDA-8D5F-BA32A8F8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95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1B766C-398E-45B0-881F-162E3D3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C97D82-25AC-43C8-A2CD-A82CFEC6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52130E-0A02-423C-9C49-0387829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2479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1"/>
          </a:solidFill>
          <a:ln xmlns:a="http://schemas.openxmlformats.org/drawingml/2006/main" w="9525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38362A-CA6B-475F-B837-59CDADC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381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93CE5C-C303-40A3-9A33-20C11F74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86D04D-FAC2-4611-BDB7-366415A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Institutional desk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1A3641-AFF1-4648-9D93-C3D2B45B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05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multi-account ops, approvals, deeper risk, reporting, partner liquidity workflows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32EE23-D3B4-4939-B2EF-80E94C68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5450"/>
            <a:ext cx="832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E541EC-C60B-4882-8685-3E0436B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29250"/>
            <a:ext cx="832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8BDF8">
                <a:alpha val="2902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ED31F3-BDD2-49BE-A4FF-A185C191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Release gate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21E9AA-ED64-4D17-B24A-658C914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632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14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Do not scale until funding, execution, reconciliation, and safety controls pass repeated live-path tests.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09F4E0-0D02-416C-95F2-D08E0DC4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F1F9AA-432D-419B-A763-F3818BE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CEAF6E-D02C-4808-A1DA-484DA179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Roadmap principle: prove capital safety before broad distribution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678FDE-4900-447A-A8DC-9C6F58B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13548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59F12-31A9-4CA6-BA55-649D0D2C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BC3FD-AFA6-46EA-A051-8584E105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3E63B-6D8D-46ED-BE2F-6020D599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790BD-88FF-4FCE-8EE8-09C134DA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F8AF5-A647-4167-B4AC-CC80F85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AC537-C20A-43B2-B798-F56B8EB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7C802-99AF-42CC-A6A2-ED0B97D9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9D8B4-F79F-4180-920E-CAB14851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32011-DD2B-4D63-8191-806BC92C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5BFBB-352E-4EF0-B3A2-80E7FEE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D5467-133F-44D5-B8F8-206A4FF4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E9C56-101D-4FC2-9E67-5E54A397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B4954-FB1D-48DF-BD1E-9E9FB166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583E3-0875-4859-99D3-AD6A8697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4A15F-9252-4AD9-9E83-EED34A3E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3ABD4-71D9-40EC-A835-DF093EEE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38FE4-9670-4540-AF0C-91489D74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3463F-85EF-4B87-9B62-76BF842E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27704-72F1-4B17-A904-54CFAF8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39836-0EC9-4CBF-ADEE-8D092988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10A02-C881-46D9-9D81-627AB4DA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B8715-09C5-40B2-B8B2-8AB9BDF6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7975A-F475-48AD-A279-7D039AEC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5FCFD-4691-4945-AAB2-B09BCAB3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CED1B-4F19-4F8D-91D4-5E68875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C16C4-B100-488C-927C-B7D1677D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8B3754-F111-4959-909B-11C91FFE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512A7E-926E-4F5B-9FD4-5056798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5F822-F3E9-4467-BFA8-4CF764D6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30F22-776E-42A9-8595-D3C974D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CA92F-43A4-4927-BBD4-4E061D2B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07B66-8A79-4725-B7B3-171F3155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F5932E-9BD5-479A-BE5D-957AA6A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BF0A1-0EF9-4DF6-8858-509376F6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0013E4-8657-4DCF-9166-5BD5D28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886578-AC93-4276-911B-B5417E82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74D1C-D1CE-4B5C-9738-88394F5C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0D6090-80CB-4704-A3B4-350A6858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78BE7A-1DB2-4ECD-838E-2F2B7E8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5FDD48-50D7-463C-9128-9C4B6E75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25BC28-13F2-4900-BF82-CD5226A5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RAISE NARRATIVE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E39D3-F839-44CF-9AB7-3C34A924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Use capital to harden the wedge, then turn it into a market.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883870-8896-4B42-B9F3-754A8348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No round size is assumed here. The investor ask should map to the work that de-risks BotVault automation and compounds distribution.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E61178-62AF-407B-8B34-6305D28A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35%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AA5F11-144B-4C7B-A940-173B8ACA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2412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527E27-C719-46D2-853D-E7CD97D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2412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D72D48-B742-43B8-9B43-B84C8F0F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4E81A9-99C9-4639-B38B-A9FEA66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Hyperliquid adapter, runner hardening, vault lifecycle, QA automation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9EF06D-6201-4FBA-8A3C-298A994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B718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B7185"/>
                </a:solidFill>
                <a:latin typeface="Aptos Mono"/>
                <a:ea typeface="Aptos Mono"/>
                <a:cs typeface="Aptos Mono"/>
              </a:rPr>
              <a:t>25%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A11B71-3171-4F0F-917F-F9E41FB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3372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D22BFD-BD86-4BDE-B8DC-31C02283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33725"/>
            <a:ext cx="340178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AF8009-3F1B-4FC1-9D2D-EDFB6003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1C9B9F-4C6C-4424-8F00-19AF93C3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contract review, safety controls, audit trail, incident response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67F252-4B64-4B94-9957-DA682E7E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34D399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34D399"/>
                </a:solidFill>
                <a:latin typeface="Aptos Mono"/>
                <a:ea typeface="Aptos Mono"/>
                <a:cs typeface="Aptos Mono"/>
              </a:rPr>
              <a:t>20%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CE273C-4FD8-4CCF-87E3-316B3B4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4332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897B4A-05B6-4734-8043-1707D70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43325"/>
            <a:ext cx="27214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E558BB-7DCB-46E1-9100-1558A099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3C64CB-1CB5-45FF-99B1-32365F29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creator pilots, affiliate ops, content, community proof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602C82-AED1-4607-AA8F-BF64F92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D946E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D946EF"/>
                </a:solidFill>
                <a:latin typeface="Aptos Mono"/>
                <a:ea typeface="Aptos Mono"/>
                <a:cs typeface="Aptos Mono"/>
              </a:rPr>
              <a:t>12%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783A35-73DD-46BF-9FBF-A7D82618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5292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32FEF5-EEC2-4FAB-9BB7-EEA5C0CE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52925"/>
            <a:ext cx="163285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9A05BF-B541-4DDD-B31A-10EEB8C9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862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0D9468-7980-4E85-8C72-B92D11D4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vault UX, grid template marketplace, reporting and onboarding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37FAE6-2DEA-4882-A439-D5F5D5B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ACC1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ACC15"/>
                </a:solidFill>
                <a:latin typeface="Aptos Mono"/>
                <a:ea typeface="Aptos Mono"/>
                <a:cs typeface="Aptos Mono"/>
              </a:rPr>
              <a:t>8%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C93792-F8C2-4F60-B27D-CCE076A3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6252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5BF1BA-56E5-4E6D-A8E8-AA42B57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62525"/>
            <a:ext cx="108857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0E3CD8-5BEF-450D-A5B4-461AD3F0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958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F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F4FF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B278BA-611B-442D-BBFB-0EF60514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B0C2E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B0C2E0"/>
                </a:solidFill>
                <a:latin typeface="Aptos"/>
                <a:ea typeface="Aptos"/>
                <a:cs typeface="Aptos"/>
              </a:rPr>
              <a:t>compliance research, infra, support, partner workflows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7B245B-62E8-4DAF-B6F8-4402443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984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E1D489-9151-42F9-9AC6-C9369699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84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60A5FA">
                <a:alpha val="26667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623A9C-C136-430C-B3CE-4F69CF80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007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4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Fundable milestone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E25FD7-DE30-43C0-8094-D53F2BE1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150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EDF4FF"/>
                </a:solidFill>
                <a:latin typeface="Aptos Display"/>
                <a:ea typeface="Aptos Display"/>
                <a:cs typeface="Aptos Display"/>
              </a:rPr>
              <a:t>Move from controlled BotVault grid canary to repeatable, audited, creator-distributed Hyperliquid automation.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9C113F-C6E8-445D-A1FC-597367D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C2DA57-2736-4C72-B3E7-74AE605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ULIQUID DESK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FA7DFC-24A8-408E-8ACD-03518D0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562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D8EA9"/>
                </a:solidFill>
                <a:latin typeface="Aptos Mono"/>
                <a:ea typeface="Aptos Mono"/>
                <a:cs typeface="Aptos Mono"/>
              </a:rPr>
              <a:t>Investor ask: capital accelerates safety, execution, distribution, and marketplace readiness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D2B1DA-449F-42D1-97A6-0B1218D6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0C2E0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8840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2026-05-06T13:08:47.2530000Z</dcterms:created>
  <dcterms:modified xsi:type="dcterms:W3CDTF">2026-05-06T13:08:47.2530000Z</dcterms:modified>
</coreProperties>
</file>